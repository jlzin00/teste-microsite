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crime_deck_assets/cover_police_dark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658368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AA4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PANORAMA GLOBAL • NUMBEO 2026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731520" y="1298448"/>
            <a:ext cx="4846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3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Índice de criminalidade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3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mundo</a:t>
            </a:r>
            <a:endParaRPr lang="en-US" sz="4200" dirty="0"/>
          </a:p>
        </p:txBody>
      </p:sp>
      <p:sp>
        <p:nvSpPr>
          <p:cNvPr id="5" name="Shape 2"/>
          <p:cNvSpPr/>
          <p:nvPr/>
        </p:nvSpPr>
        <p:spPr>
          <a:xfrm>
            <a:off x="731520" y="2706624"/>
            <a:ext cx="1097280" cy="54864"/>
          </a:xfrm>
          <a:prstGeom prst="rect">
            <a:avLst/>
          </a:prstGeom>
          <a:solidFill>
            <a:srgbClr val="E94F5A"/>
          </a:solidFill>
          <a:ln w="12700">
            <a:solidFill>
              <a:srgbClr val="E94F5A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49808" y="2871216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3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 10 países pelo Crime Index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749808" y="3236976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AA4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Consulta em abril de 2026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49808" y="6291072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4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Deck visual para PowerPoint / Canva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crime_deck_assets/strip_cctv_day_dark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0"/>
            <a:ext cx="437083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772400" y="0"/>
            <a:ext cx="18288" cy="6858000"/>
          </a:xfrm>
          <a:prstGeom prst="rect">
            <a:avLst/>
          </a:prstGeom>
          <a:solidFill>
            <a:srgbClr val="2A323C"/>
          </a:solidFill>
          <a:ln w="12700">
            <a:solidFill>
              <a:srgbClr val="2A323C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58368" y="16459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AA4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NUMBEO 2026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658368" y="347472"/>
            <a:ext cx="6720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3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Como ler o índice</a:t>
            </a:r>
            <a:endParaRPr lang="en-US" sz="3100" dirty="0"/>
          </a:p>
        </p:txBody>
      </p:sp>
      <p:sp>
        <p:nvSpPr>
          <p:cNvPr id="6" name="Shape 3"/>
          <p:cNvSpPr/>
          <p:nvPr/>
        </p:nvSpPr>
        <p:spPr>
          <a:xfrm>
            <a:off x="658368" y="822960"/>
            <a:ext cx="841248" cy="41148"/>
          </a:xfrm>
          <a:prstGeom prst="rect">
            <a:avLst/>
          </a:prstGeom>
          <a:solidFill>
            <a:srgbClr val="E94F5A"/>
          </a:solidFill>
          <a:ln w="12700">
            <a:solidFill>
              <a:srgbClr val="E94F5A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137392" y="237744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9AA4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749808" y="1243584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3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0–100</a:t>
            </a:r>
            <a:endParaRPr lang="en-US" sz="4800" dirty="0"/>
          </a:p>
        </p:txBody>
      </p:sp>
      <p:sp>
        <p:nvSpPr>
          <p:cNvPr id="9" name="Text 6"/>
          <p:cNvSpPr/>
          <p:nvPr/>
        </p:nvSpPr>
        <p:spPr>
          <a:xfrm>
            <a:off x="749808" y="1847088"/>
            <a:ext cx="6263640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3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Baseado em respostas de visitantes do site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3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Compara percepção de segurança, crimes patrimoniais e crimes violentos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3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60–80 = alto · acima de 80 = muito alto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3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Serve melhor como termômetro comparativo do que como taxa oficial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749808" y="5029200"/>
            <a:ext cx="1261872" cy="292608"/>
          </a:xfrm>
          <a:prstGeom prst="rect">
            <a:avLst/>
          </a:prstGeom>
          <a:solidFill>
            <a:srgbClr val="1C2530"/>
          </a:solidFill>
          <a:ln w="12700">
            <a:solidFill>
              <a:srgbClr val="1C2530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95528" y="5413248"/>
            <a:ext cx="11704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4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baixo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011680" y="5029200"/>
            <a:ext cx="1261872" cy="292608"/>
          </a:xfrm>
          <a:prstGeom prst="rect">
            <a:avLst/>
          </a:prstGeom>
          <a:solidFill>
            <a:srgbClr val="44505E"/>
          </a:solidFill>
          <a:ln w="12700">
            <a:solidFill>
              <a:srgbClr val="44505E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057400" y="5413248"/>
            <a:ext cx="11704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4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moderado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273552" y="5029200"/>
            <a:ext cx="1261872" cy="292608"/>
          </a:xfrm>
          <a:prstGeom prst="rect">
            <a:avLst/>
          </a:prstGeom>
          <a:solidFill>
            <a:srgbClr val="667381"/>
          </a:solidFill>
          <a:ln w="12700">
            <a:solidFill>
              <a:srgbClr val="667381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319272" y="5413248"/>
            <a:ext cx="11704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3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médio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535424" y="5029200"/>
            <a:ext cx="1261872" cy="292608"/>
          </a:xfrm>
          <a:prstGeom prst="rect">
            <a:avLst/>
          </a:prstGeom>
          <a:solidFill>
            <a:srgbClr val="A56A1D"/>
          </a:solidFill>
          <a:ln w="12700">
            <a:solidFill>
              <a:srgbClr val="A56A1D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581144" y="5413248"/>
            <a:ext cx="11704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3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alto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797296" y="5029200"/>
            <a:ext cx="1261872" cy="292608"/>
          </a:xfrm>
          <a:prstGeom prst="rect">
            <a:avLst/>
          </a:prstGeom>
          <a:solidFill>
            <a:srgbClr val="C73B47"/>
          </a:solidFill>
          <a:ln w="12700">
            <a:solidFill>
              <a:srgbClr val="C73B47">
                <a:alpha val="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843016" y="5413248"/>
            <a:ext cx="11704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3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muito alto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749808" y="5687568"/>
            <a:ext cx="3749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AA4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Escala resumida usada na leitura do deck.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749808" y="6492240"/>
            <a:ext cx="6766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9AA4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Fonte: Numbeo, Understanding Crime Indexes (consulta: abr/2026).</a:t>
            </a:r>
            <a:endParaRPr lang="en-US" sz="9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16459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AA4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NUMBEO 2026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58368" y="347472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3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 10 no ranking atual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58368" y="822960"/>
            <a:ext cx="841248" cy="41148"/>
          </a:xfrm>
          <a:prstGeom prst="rect">
            <a:avLst/>
          </a:prstGeom>
          <a:solidFill>
            <a:srgbClr val="E94F5A"/>
          </a:solidFill>
          <a:ln w="12700">
            <a:solidFill>
              <a:srgbClr val="E94F5A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37392" y="237744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9AA4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950" dirty="0"/>
          </a:p>
        </p:txBody>
      </p:sp>
      <p:pic>
        <p:nvPicPr>
          <p:cNvPr id="6" name="Image 0" descr="/mnt/data/crime_deck_assets/chart_top10_b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078992"/>
            <a:ext cx="10716768" cy="4919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49808" y="6071616"/>
            <a:ext cx="6949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4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Obs.: Peru também registra 66,9 e empata com a Guiana na borda do top 10.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658368" y="6492240"/>
            <a:ext cx="10881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9AA4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Fonte: Numbeo, Crime Index by Country 2026 (consulta: abr/2026).</a:t>
            </a:r>
            <a:endParaRPr lang="en-US" sz="9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16459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AA4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NUMBEO 2026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58368" y="347472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3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Onde os 10 países se concentram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58368" y="822960"/>
            <a:ext cx="841248" cy="41148"/>
          </a:xfrm>
          <a:prstGeom prst="rect">
            <a:avLst/>
          </a:prstGeom>
          <a:solidFill>
            <a:srgbClr val="E94F5A"/>
          </a:solidFill>
          <a:ln w="12700">
            <a:solidFill>
              <a:srgbClr val="E94F5A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37392" y="237744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9AA4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749808" y="1499616"/>
            <a:ext cx="731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E94F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5000" dirty="0"/>
          </a:p>
        </p:txBody>
      </p:sp>
      <p:sp>
        <p:nvSpPr>
          <p:cNvPr id="7" name="Text 5"/>
          <p:cNvSpPr/>
          <p:nvPr/>
        </p:nvSpPr>
        <p:spPr>
          <a:xfrm>
            <a:off x="1499616" y="1682496"/>
            <a:ext cx="1188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3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 faixa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3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muito alta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49808" y="2889504"/>
            <a:ext cx="731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8E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5000" dirty="0"/>
          </a:p>
        </p:txBody>
      </p:sp>
      <p:sp>
        <p:nvSpPr>
          <p:cNvPr id="9" name="Text 7"/>
          <p:cNvSpPr/>
          <p:nvPr/>
        </p:nvSpPr>
        <p:spPr>
          <a:xfrm>
            <a:off x="1499616" y="3072384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3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 faixa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3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alta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49808" y="437083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3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14,0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768096" y="4773168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9AA4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pontos entre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9AA4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1º e o 10º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3054096" y="1225296"/>
            <a:ext cx="27432" cy="4498848"/>
          </a:xfrm>
          <a:prstGeom prst="rect">
            <a:avLst/>
          </a:prstGeom>
          <a:solidFill>
            <a:srgbClr val="2A323C"/>
          </a:solidFill>
          <a:ln w="12700">
            <a:solidFill>
              <a:srgbClr val="2A323C">
                <a:alpha val="0"/>
              </a:srgbClr>
            </a:solidFill>
            <a:prstDash val="solid"/>
          </a:ln>
        </p:spPr>
      </p:sp>
      <p:pic>
        <p:nvPicPr>
          <p:cNvPr id="13" name="Image 0" descr="/mnt/data/crime_deck_assets/chart_band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01568" y="1316736"/>
            <a:ext cx="7955280" cy="429768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58368" y="6492240"/>
            <a:ext cx="10881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9AA4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Fontes: Numbeo, ranking 2026 e metodologia do Crime Index (consulta: abr/2026).</a:t>
            </a:r>
            <a:endParaRPr lang="en-US" sz="9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16459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AA4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NUMBEO 2026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58368" y="347472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3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Distribuição geográfica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58368" y="822960"/>
            <a:ext cx="841248" cy="41148"/>
          </a:xfrm>
          <a:prstGeom prst="rect">
            <a:avLst/>
          </a:prstGeom>
          <a:solidFill>
            <a:srgbClr val="E94F5A"/>
          </a:solidFill>
          <a:ln w="12700">
            <a:solidFill>
              <a:srgbClr val="E94F5A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37392" y="237744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9AA4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749808" y="1280160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4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Macroagrupamento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AA4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usado no deck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49808" y="1847088"/>
            <a:ext cx="493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94F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426464" y="1956816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3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Américas/Caribe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49808" y="2834640"/>
            <a:ext cx="493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8E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1426464" y="2944368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3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Ásia/Oriente Médio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49808" y="3822192"/>
            <a:ext cx="493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B4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1426464" y="3931920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3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África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49808" y="4809744"/>
            <a:ext cx="493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75859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1426464" y="4919472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3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Oceania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49808" y="5632704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AA4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Pontos = países do top 10</a:t>
            </a:r>
            <a:endParaRPr lang="en-US" sz="1150" dirty="0"/>
          </a:p>
        </p:txBody>
      </p:sp>
      <p:pic>
        <p:nvPicPr>
          <p:cNvPr id="16" name="Image 0" descr="/mnt/data/crime_deck_assets/chart_world_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49040" y="1133856"/>
            <a:ext cx="7827264" cy="4791456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658368" y="6492240"/>
            <a:ext cx="10881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9AA4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Fonte: Numbeo, Crime Index by Country 2026; macroagrupamento regional elaborado no deck.</a:t>
            </a:r>
            <a:endParaRPr lang="en-US" sz="9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16459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AA4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NUMBEO 2026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58368" y="347472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3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Leitura regional do top 10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58368" y="822960"/>
            <a:ext cx="841248" cy="41148"/>
          </a:xfrm>
          <a:prstGeom prst="rect">
            <a:avLst/>
          </a:prstGeom>
          <a:solidFill>
            <a:srgbClr val="E94F5A"/>
          </a:solidFill>
          <a:ln w="12700">
            <a:solidFill>
              <a:srgbClr val="E94F5A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37392" y="237744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9AA4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</a:t>
            </a:r>
            <a:endParaRPr lang="en-US" sz="950" dirty="0"/>
          </a:p>
        </p:txBody>
      </p:sp>
      <p:pic>
        <p:nvPicPr>
          <p:cNvPr id="6" name="Image 0" descr="/mnt/data/crime_deck_assets/chart_regions_donu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1225296"/>
            <a:ext cx="4526280" cy="45262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623560" y="1847088"/>
            <a:ext cx="201168" cy="201168"/>
          </a:xfrm>
          <a:prstGeom prst="rect">
            <a:avLst/>
          </a:prstGeom>
          <a:solidFill>
            <a:srgbClr val="E94F5A"/>
          </a:solidFill>
          <a:ln w="12700">
            <a:solidFill>
              <a:srgbClr val="E94F5A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007608" y="1682496"/>
            <a:ext cx="566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3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6611112" y="1773936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50" dirty="0">
                <a:solidFill>
                  <a:srgbClr val="F3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Américas/Caribe</a:t>
            </a:r>
            <a:endParaRPr lang="en-US" sz="1850" dirty="0"/>
          </a:p>
        </p:txBody>
      </p:sp>
      <p:sp>
        <p:nvSpPr>
          <p:cNvPr id="10" name="Shape 7"/>
          <p:cNvSpPr/>
          <p:nvPr/>
        </p:nvSpPr>
        <p:spPr>
          <a:xfrm>
            <a:off x="5623560" y="2779776"/>
            <a:ext cx="201168" cy="201168"/>
          </a:xfrm>
          <a:prstGeom prst="rect">
            <a:avLst/>
          </a:prstGeom>
          <a:solidFill>
            <a:srgbClr val="FF8E3C"/>
          </a:solidFill>
          <a:ln w="12700">
            <a:solidFill>
              <a:srgbClr val="FF8E3C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007608" y="2615184"/>
            <a:ext cx="566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3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6611112" y="2706624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50" dirty="0">
                <a:solidFill>
                  <a:srgbClr val="F3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Ásia/Oriente Médio</a:t>
            </a:r>
            <a:endParaRPr lang="en-US" sz="1850" dirty="0"/>
          </a:p>
        </p:txBody>
      </p:sp>
      <p:sp>
        <p:nvSpPr>
          <p:cNvPr id="13" name="Shape 10"/>
          <p:cNvSpPr/>
          <p:nvPr/>
        </p:nvSpPr>
        <p:spPr>
          <a:xfrm>
            <a:off x="5623560" y="3712464"/>
            <a:ext cx="201168" cy="201168"/>
          </a:xfrm>
          <a:prstGeom prst="rect">
            <a:avLst/>
          </a:prstGeom>
          <a:solidFill>
            <a:srgbClr val="FFB454"/>
          </a:solidFill>
          <a:ln w="12700">
            <a:solidFill>
              <a:srgbClr val="FFB454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007608" y="3547872"/>
            <a:ext cx="566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3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3000" dirty="0"/>
          </a:p>
        </p:txBody>
      </p:sp>
      <p:sp>
        <p:nvSpPr>
          <p:cNvPr id="15" name="Text 12"/>
          <p:cNvSpPr/>
          <p:nvPr/>
        </p:nvSpPr>
        <p:spPr>
          <a:xfrm>
            <a:off x="6611112" y="363931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50" dirty="0">
                <a:solidFill>
                  <a:srgbClr val="F3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África</a:t>
            </a:r>
            <a:endParaRPr lang="en-US" sz="1850" dirty="0"/>
          </a:p>
        </p:txBody>
      </p:sp>
      <p:sp>
        <p:nvSpPr>
          <p:cNvPr id="16" name="Shape 13"/>
          <p:cNvSpPr/>
          <p:nvPr/>
        </p:nvSpPr>
        <p:spPr>
          <a:xfrm>
            <a:off x="5623560" y="4645152"/>
            <a:ext cx="201168" cy="201168"/>
          </a:xfrm>
          <a:prstGeom prst="rect">
            <a:avLst/>
          </a:prstGeom>
          <a:solidFill>
            <a:srgbClr val="75859A"/>
          </a:solidFill>
          <a:ln w="12700">
            <a:solidFill>
              <a:srgbClr val="75859A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007608" y="4480560"/>
            <a:ext cx="566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3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3000" dirty="0"/>
          </a:p>
        </p:txBody>
      </p:sp>
      <p:sp>
        <p:nvSpPr>
          <p:cNvPr id="18" name="Text 15"/>
          <p:cNvSpPr/>
          <p:nvPr/>
        </p:nvSpPr>
        <p:spPr>
          <a:xfrm>
            <a:off x="6611112" y="457200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50" dirty="0">
                <a:solidFill>
                  <a:srgbClr val="F3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Oceania</a:t>
            </a:r>
            <a:endParaRPr lang="en-US" sz="1850" dirty="0"/>
          </a:p>
        </p:txBody>
      </p:sp>
      <p:sp>
        <p:nvSpPr>
          <p:cNvPr id="19" name="Text 16"/>
          <p:cNvSpPr/>
          <p:nvPr/>
        </p:nvSpPr>
        <p:spPr>
          <a:xfrm>
            <a:off x="5623560" y="550468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3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60% das posições do recorte estão nas Américas e Caribe.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658368" y="6492240"/>
            <a:ext cx="10881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9AA4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Fonte: Numbeo, Crime Index by Country 2026 (consulta: abr/2026).</a:t>
            </a:r>
            <a:endParaRPr lang="en-US" sz="9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crime_deck_assets/strip_cctv_night_dark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92608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926080" y="0"/>
            <a:ext cx="27432" cy="6858000"/>
          </a:xfrm>
          <a:prstGeom prst="rect">
            <a:avLst/>
          </a:prstGeom>
          <a:solidFill>
            <a:srgbClr val="2A323C"/>
          </a:solidFill>
          <a:ln w="12700">
            <a:solidFill>
              <a:srgbClr val="2A323C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3236976" y="16459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AA4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SNAPSHOT 2026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3236976" y="347472"/>
            <a:ext cx="6766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3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Posições 1 a 5</a:t>
            </a:r>
            <a:endParaRPr lang="en-US" sz="3100" dirty="0"/>
          </a:p>
        </p:txBody>
      </p:sp>
      <p:sp>
        <p:nvSpPr>
          <p:cNvPr id="6" name="Shape 3"/>
          <p:cNvSpPr/>
          <p:nvPr/>
        </p:nvSpPr>
        <p:spPr>
          <a:xfrm>
            <a:off x="3236976" y="822960"/>
            <a:ext cx="841248" cy="41148"/>
          </a:xfrm>
          <a:prstGeom prst="rect">
            <a:avLst/>
          </a:prstGeom>
          <a:solidFill>
            <a:srgbClr val="E94F5A"/>
          </a:solidFill>
          <a:ln w="12700">
            <a:solidFill>
              <a:srgbClr val="E94F5A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137392" y="237744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9AA4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3236976" y="987552"/>
            <a:ext cx="3291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4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em muito alto · 2 em alto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3328416" y="1417320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94F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3822192" y="1417320"/>
            <a:ext cx="41148" cy="457200"/>
          </a:xfrm>
          <a:prstGeom prst="rect">
            <a:avLst/>
          </a:prstGeom>
          <a:solidFill>
            <a:srgbClr val="E94F5A"/>
          </a:solidFill>
          <a:ln w="12700">
            <a:solidFill>
              <a:srgbClr val="E94F5A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023360" y="1353312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50" b="1" dirty="0">
                <a:solidFill>
                  <a:srgbClr val="F3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Papua-Nova Guiné</a:t>
            </a:r>
            <a:endParaRPr lang="en-US" sz="2250" dirty="0"/>
          </a:p>
        </p:txBody>
      </p:sp>
      <p:sp>
        <p:nvSpPr>
          <p:cNvPr id="12" name="Text 9"/>
          <p:cNvSpPr/>
          <p:nvPr/>
        </p:nvSpPr>
        <p:spPr>
          <a:xfrm>
            <a:off x="4023360" y="1700784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9AA4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Oceania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9235440" y="1335024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500" b="1" dirty="0">
                <a:solidFill>
                  <a:srgbClr val="F3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80,9</a:t>
            </a:r>
            <a:endParaRPr lang="en-US" sz="2500" dirty="0"/>
          </a:p>
        </p:txBody>
      </p:sp>
      <p:sp>
        <p:nvSpPr>
          <p:cNvPr id="14" name="Text 11"/>
          <p:cNvSpPr/>
          <p:nvPr/>
        </p:nvSpPr>
        <p:spPr>
          <a:xfrm>
            <a:off x="9189720" y="1682496"/>
            <a:ext cx="1143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40" b="1" dirty="0">
                <a:solidFill>
                  <a:srgbClr val="9AA4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MUITO ALTO</a:t>
            </a:r>
            <a:endParaRPr lang="en-US" sz="1040" dirty="0"/>
          </a:p>
        </p:txBody>
      </p:sp>
      <p:sp>
        <p:nvSpPr>
          <p:cNvPr id="15" name="Shape 12"/>
          <p:cNvSpPr/>
          <p:nvPr/>
        </p:nvSpPr>
        <p:spPr>
          <a:xfrm>
            <a:off x="4023360" y="2093976"/>
            <a:ext cx="6355080" cy="13716"/>
          </a:xfrm>
          <a:prstGeom prst="rect">
            <a:avLst/>
          </a:prstGeom>
          <a:solidFill>
            <a:srgbClr val="2A323C"/>
          </a:solidFill>
          <a:ln w="12700">
            <a:solidFill>
              <a:srgbClr val="2A323C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328416" y="2286000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64A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3822192" y="2286000"/>
            <a:ext cx="41148" cy="457200"/>
          </a:xfrm>
          <a:prstGeom prst="rect">
            <a:avLst/>
          </a:prstGeom>
          <a:solidFill>
            <a:srgbClr val="D64A55"/>
          </a:solidFill>
          <a:ln w="12700">
            <a:solidFill>
              <a:srgbClr val="D64A55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023360" y="2221992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50" b="1" dirty="0">
                <a:solidFill>
                  <a:srgbClr val="F3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Venezuela</a:t>
            </a:r>
            <a:endParaRPr lang="en-US" sz="2250" dirty="0"/>
          </a:p>
        </p:txBody>
      </p:sp>
      <p:sp>
        <p:nvSpPr>
          <p:cNvPr id="19" name="Text 16"/>
          <p:cNvSpPr/>
          <p:nvPr/>
        </p:nvSpPr>
        <p:spPr>
          <a:xfrm>
            <a:off x="4023360" y="2569464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9AA4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Am. do Sul</a:t>
            </a:r>
            <a:endParaRPr lang="en-US" sz="1450" dirty="0"/>
          </a:p>
        </p:txBody>
      </p:sp>
      <p:sp>
        <p:nvSpPr>
          <p:cNvPr id="20" name="Text 17"/>
          <p:cNvSpPr/>
          <p:nvPr/>
        </p:nvSpPr>
        <p:spPr>
          <a:xfrm>
            <a:off x="9235440" y="2203704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500" b="1" dirty="0">
                <a:solidFill>
                  <a:srgbClr val="F3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80,4</a:t>
            </a:r>
            <a:endParaRPr lang="en-US" sz="2500" dirty="0"/>
          </a:p>
        </p:txBody>
      </p:sp>
      <p:sp>
        <p:nvSpPr>
          <p:cNvPr id="21" name="Text 18"/>
          <p:cNvSpPr/>
          <p:nvPr/>
        </p:nvSpPr>
        <p:spPr>
          <a:xfrm>
            <a:off x="9189720" y="2551176"/>
            <a:ext cx="1143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40" b="1" dirty="0">
                <a:solidFill>
                  <a:srgbClr val="9AA4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MUITO ALTO</a:t>
            </a:r>
            <a:endParaRPr lang="en-US" sz="1040" dirty="0"/>
          </a:p>
        </p:txBody>
      </p:sp>
      <p:sp>
        <p:nvSpPr>
          <p:cNvPr id="22" name="Shape 19"/>
          <p:cNvSpPr/>
          <p:nvPr/>
        </p:nvSpPr>
        <p:spPr>
          <a:xfrm>
            <a:off x="4023360" y="2962656"/>
            <a:ext cx="6355080" cy="13716"/>
          </a:xfrm>
          <a:prstGeom prst="rect">
            <a:avLst/>
          </a:prstGeom>
          <a:solidFill>
            <a:srgbClr val="2A323C"/>
          </a:solidFill>
          <a:ln w="12700">
            <a:solidFill>
              <a:srgbClr val="2A323C">
                <a:alpha val="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328416" y="3154680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64A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800" dirty="0"/>
          </a:p>
        </p:txBody>
      </p:sp>
      <p:sp>
        <p:nvSpPr>
          <p:cNvPr id="24" name="Shape 21"/>
          <p:cNvSpPr/>
          <p:nvPr/>
        </p:nvSpPr>
        <p:spPr>
          <a:xfrm>
            <a:off x="3822192" y="3154680"/>
            <a:ext cx="41148" cy="457200"/>
          </a:xfrm>
          <a:prstGeom prst="rect">
            <a:avLst/>
          </a:prstGeom>
          <a:solidFill>
            <a:srgbClr val="D64A55"/>
          </a:solidFill>
          <a:ln w="12700">
            <a:solidFill>
              <a:srgbClr val="D64A55">
                <a:alpha val="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023360" y="3090672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50" b="1" dirty="0">
                <a:solidFill>
                  <a:srgbClr val="F3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Haiti</a:t>
            </a:r>
            <a:endParaRPr lang="en-US" sz="2250" dirty="0"/>
          </a:p>
        </p:txBody>
      </p:sp>
      <p:sp>
        <p:nvSpPr>
          <p:cNvPr id="26" name="Text 23"/>
          <p:cNvSpPr/>
          <p:nvPr/>
        </p:nvSpPr>
        <p:spPr>
          <a:xfrm>
            <a:off x="4023360" y="3438144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9AA4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Caribe</a:t>
            </a:r>
            <a:endParaRPr lang="en-US" sz="1450" dirty="0"/>
          </a:p>
        </p:txBody>
      </p:sp>
      <p:sp>
        <p:nvSpPr>
          <p:cNvPr id="27" name="Text 24"/>
          <p:cNvSpPr/>
          <p:nvPr/>
        </p:nvSpPr>
        <p:spPr>
          <a:xfrm>
            <a:off x="9235440" y="3072384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500" b="1" dirty="0">
                <a:solidFill>
                  <a:srgbClr val="F3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80,1</a:t>
            </a:r>
            <a:endParaRPr lang="en-US" sz="2500" dirty="0"/>
          </a:p>
        </p:txBody>
      </p:sp>
      <p:sp>
        <p:nvSpPr>
          <p:cNvPr id="28" name="Text 25"/>
          <p:cNvSpPr/>
          <p:nvPr/>
        </p:nvSpPr>
        <p:spPr>
          <a:xfrm>
            <a:off x="9189720" y="3419856"/>
            <a:ext cx="1143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40" b="1" dirty="0">
                <a:solidFill>
                  <a:srgbClr val="9AA4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MUITO ALTO</a:t>
            </a:r>
            <a:endParaRPr lang="en-US" sz="1040" dirty="0"/>
          </a:p>
        </p:txBody>
      </p:sp>
      <p:sp>
        <p:nvSpPr>
          <p:cNvPr id="29" name="Shape 26"/>
          <p:cNvSpPr/>
          <p:nvPr/>
        </p:nvSpPr>
        <p:spPr>
          <a:xfrm>
            <a:off x="4023360" y="3831336"/>
            <a:ext cx="6355080" cy="13716"/>
          </a:xfrm>
          <a:prstGeom prst="rect">
            <a:avLst/>
          </a:prstGeom>
          <a:solidFill>
            <a:srgbClr val="2A323C"/>
          </a:solidFill>
          <a:ln w="12700">
            <a:solidFill>
              <a:srgbClr val="2A323C">
                <a:alpha val="0"/>
              </a:srgbClr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328416" y="4023360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8E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800" dirty="0"/>
          </a:p>
        </p:txBody>
      </p:sp>
      <p:sp>
        <p:nvSpPr>
          <p:cNvPr id="31" name="Shape 28"/>
          <p:cNvSpPr/>
          <p:nvPr/>
        </p:nvSpPr>
        <p:spPr>
          <a:xfrm>
            <a:off x="3822192" y="4023360"/>
            <a:ext cx="41148" cy="457200"/>
          </a:xfrm>
          <a:prstGeom prst="rect">
            <a:avLst/>
          </a:prstGeom>
          <a:solidFill>
            <a:srgbClr val="FF8E3C"/>
          </a:solidFill>
          <a:ln w="12700">
            <a:solidFill>
              <a:srgbClr val="FF8E3C">
                <a:alpha val="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023360" y="3959352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50" b="1" dirty="0">
                <a:solidFill>
                  <a:srgbClr val="F3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Afeganistão</a:t>
            </a:r>
            <a:endParaRPr lang="en-US" sz="2250" dirty="0"/>
          </a:p>
        </p:txBody>
      </p:sp>
      <p:sp>
        <p:nvSpPr>
          <p:cNvPr id="33" name="Text 30"/>
          <p:cNvSpPr/>
          <p:nvPr/>
        </p:nvSpPr>
        <p:spPr>
          <a:xfrm>
            <a:off x="4023360" y="4306824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9AA4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Ásia</a:t>
            </a:r>
            <a:endParaRPr lang="en-US" sz="1450" dirty="0"/>
          </a:p>
        </p:txBody>
      </p:sp>
      <p:sp>
        <p:nvSpPr>
          <p:cNvPr id="34" name="Text 31"/>
          <p:cNvSpPr/>
          <p:nvPr/>
        </p:nvSpPr>
        <p:spPr>
          <a:xfrm>
            <a:off x="9235440" y="3941064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500" b="1" dirty="0">
                <a:solidFill>
                  <a:srgbClr val="F3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74,8</a:t>
            </a:r>
            <a:endParaRPr lang="en-US" sz="2500" dirty="0"/>
          </a:p>
        </p:txBody>
      </p:sp>
      <p:sp>
        <p:nvSpPr>
          <p:cNvPr id="35" name="Text 32"/>
          <p:cNvSpPr/>
          <p:nvPr/>
        </p:nvSpPr>
        <p:spPr>
          <a:xfrm>
            <a:off x="9189720" y="4288536"/>
            <a:ext cx="1143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40" b="1" dirty="0">
                <a:solidFill>
                  <a:srgbClr val="9AA4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ALTO</a:t>
            </a:r>
            <a:endParaRPr lang="en-US" sz="1040" dirty="0"/>
          </a:p>
        </p:txBody>
      </p:sp>
      <p:sp>
        <p:nvSpPr>
          <p:cNvPr id="36" name="Shape 33"/>
          <p:cNvSpPr/>
          <p:nvPr/>
        </p:nvSpPr>
        <p:spPr>
          <a:xfrm>
            <a:off x="4023360" y="4700016"/>
            <a:ext cx="6355080" cy="13716"/>
          </a:xfrm>
          <a:prstGeom prst="rect">
            <a:avLst/>
          </a:prstGeom>
          <a:solidFill>
            <a:srgbClr val="2A323C"/>
          </a:solidFill>
          <a:ln w="12700">
            <a:solidFill>
              <a:srgbClr val="2A323C">
                <a:alpha val="0"/>
              </a:srgbClr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3328416" y="4892040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8E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1800" dirty="0"/>
          </a:p>
        </p:txBody>
      </p:sp>
      <p:sp>
        <p:nvSpPr>
          <p:cNvPr id="38" name="Shape 35"/>
          <p:cNvSpPr/>
          <p:nvPr/>
        </p:nvSpPr>
        <p:spPr>
          <a:xfrm>
            <a:off x="3822192" y="4892040"/>
            <a:ext cx="41148" cy="457200"/>
          </a:xfrm>
          <a:prstGeom prst="rect">
            <a:avLst/>
          </a:prstGeom>
          <a:solidFill>
            <a:srgbClr val="FF8E3C"/>
          </a:solidFill>
          <a:ln w="12700">
            <a:solidFill>
              <a:srgbClr val="FF8E3C">
                <a:alpha val="0"/>
              </a:srgbClr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4023360" y="4828032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50" b="1" dirty="0">
                <a:solidFill>
                  <a:srgbClr val="F3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África do Sul</a:t>
            </a:r>
            <a:endParaRPr lang="en-US" sz="2250" dirty="0"/>
          </a:p>
        </p:txBody>
      </p:sp>
      <p:sp>
        <p:nvSpPr>
          <p:cNvPr id="40" name="Text 37"/>
          <p:cNvSpPr/>
          <p:nvPr/>
        </p:nvSpPr>
        <p:spPr>
          <a:xfrm>
            <a:off x="4023360" y="5175504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9AA4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África</a:t>
            </a:r>
            <a:endParaRPr lang="en-US" sz="1450" dirty="0"/>
          </a:p>
        </p:txBody>
      </p:sp>
      <p:sp>
        <p:nvSpPr>
          <p:cNvPr id="41" name="Text 38"/>
          <p:cNvSpPr/>
          <p:nvPr/>
        </p:nvSpPr>
        <p:spPr>
          <a:xfrm>
            <a:off x="9235440" y="4809744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500" b="1" dirty="0">
                <a:solidFill>
                  <a:srgbClr val="F3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74,5</a:t>
            </a:r>
            <a:endParaRPr lang="en-US" sz="2500" dirty="0"/>
          </a:p>
        </p:txBody>
      </p:sp>
      <p:sp>
        <p:nvSpPr>
          <p:cNvPr id="42" name="Text 39"/>
          <p:cNvSpPr/>
          <p:nvPr/>
        </p:nvSpPr>
        <p:spPr>
          <a:xfrm>
            <a:off x="9189720" y="5157216"/>
            <a:ext cx="1143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40" b="1" dirty="0">
                <a:solidFill>
                  <a:srgbClr val="9AA4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ALTO</a:t>
            </a:r>
            <a:endParaRPr lang="en-US" sz="1040" dirty="0"/>
          </a:p>
        </p:txBody>
      </p:sp>
      <p:sp>
        <p:nvSpPr>
          <p:cNvPr id="43" name="Shape 40"/>
          <p:cNvSpPr/>
          <p:nvPr/>
        </p:nvSpPr>
        <p:spPr>
          <a:xfrm>
            <a:off x="4023360" y="5568696"/>
            <a:ext cx="6355080" cy="13716"/>
          </a:xfrm>
          <a:prstGeom prst="rect">
            <a:avLst/>
          </a:prstGeom>
          <a:solidFill>
            <a:srgbClr val="2A323C"/>
          </a:solidFill>
          <a:ln w="12700">
            <a:solidFill>
              <a:srgbClr val="2A323C">
                <a:alpha val="0"/>
              </a:srgbClr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3236976" y="6492240"/>
            <a:ext cx="8138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9AA4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Fonte: Numbeo, Crime Index by Country 2026 (consulta: abr/2026).</a:t>
            </a:r>
            <a:endParaRPr lang="en-US" sz="9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crime_deck_assets/strip_city_bokeh_dark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62872" y="0"/>
            <a:ext cx="2928823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217152" y="0"/>
            <a:ext cx="18288" cy="6858000"/>
          </a:xfrm>
          <a:prstGeom prst="rect">
            <a:avLst/>
          </a:prstGeom>
          <a:solidFill>
            <a:srgbClr val="2A323C"/>
          </a:solidFill>
          <a:ln w="12700">
            <a:solidFill>
              <a:srgbClr val="2A323C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49808" y="16459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AA4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NUMBEO 2026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749808" y="347472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3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Posições 6 a 10</a:t>
            </a:r>
            <a:endParaRPr lang="en-US" sz="3100" dirty="0"/>
          </a:p>
        </p:txBody>
      </p:sp>
      <p:sp>
        <p:nvSpPr>
          <p:cNvPr id="6" name="Shape 3"/>
          <p:cNvSpPr/>
          <p:nvPr/>
        </p:nvSpPr>
        <p:spPr>
          <a:xfrm>
            <a:off x="749808" y="822960"/>
            <a:ext cx="841248" cy="41148"/>
          </a:xfrm>
          <a:prstGeom prst="rect">
            <a:avLst/>
          </a:prstGeom>
          <a:solidFill>
            <a:srgbClr val="E94F5A"/>
          </a:solidFill>
          <a:ln w="12700">
            <a:solidFill>
              <a:srgbClr val="E94F5A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137392" y="237744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9AA4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749808" y="987552"/>
            <a:ext cx="3291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4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Faixa alta de 66,9 a 71,9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768096" y="1417320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8E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1261872" y="1417320"/>
            <a:ext cx="41148" cy="457200"/>
          </a:xfrm>
          <a:prstGeom prst="rect">
            <a:avLst/>
          </a:prstGeom>
          <a:solidFill>
            <a:srgbClr val="FF8E3C"/>
          </a:solidFill>
          <a:ln w="12700">
            <a:solidFill>
              <a:srgbClr val="FF8E3C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463040" y="1353312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50" b="1" dirty="0">
                <a:solidFill>
                  <a:srgbClr val="F3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Honduras</a:t>
            </a:r>
            <a:endParaRPr lang="en-US" sz="2250" dirty="0"/>
          </a:p>
        </p:txBody>
      </p:sp>
      <p:sp>
        <p:nvSpPr>
          <p:cNvPr id="12" name="Text 9"/>
          <p:cNvSpPr/>
          <p:nvPr/>
        </p:nvSpPr>
        <p:spPr>
          <a:xfrm>
            <a:off x="1463040" y="1700784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9AA4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Am. Central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6931152" y="1335024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500" b="1" dirty="0">
                <a:solidFill>
                  <a:srgbClr val="F3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71,9</a:t>
            </a:r>
            <a:endParaRPr lang="en-US" sz="2500" dirty="0"/>
          </a:p>
        </p:txBody>
      </p:sp>
      <p:sp>
        <p:nvSpPr>
          <p:cNvPr id="14" name="Text 11"/>
          <p:cNvSpPr/>
          <p:nvPr/>
        </p:nvSpPr>
        <p:spPr>
          <a:xfrm>
            <a:off x="6885432" y="1682496"/>
            <a:ext cx="1143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40" b="1" dirty="0">
                <a:solidFill>
                  <a:srgbClr val="9AA4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ALTO</a:t>
            </a:r>
            <a:endParaRPr lang="en-US" sz="1040" dirty="0"/>
          </a:p>
        </p:txBody>
      </p:sp>
      <p:sp>
        <p:nvSpPr>
          <p:cNvPr id="15" name="Shape 12"/>
          <p:cNvSpPr/>
          <p:nvPr/>
        </p:nvSpPr>
        <p:spPr>
          <a:xfrm>
            <a:off x="1463040" y="2093976"/>
            <a:ext cx="6729984" cy="13716"/>
          </a:xfrm>
          <a:prstGeom prst="rect">
            <a:avLst/>
          </a:prstGeom>
          <a:solidFill>
            <a:srgbClr val="2A323C"/>
          </a:solidFill>
          <a:ln w="12700">
            <a:solidFill>
              <a:srgbClr val="2A323C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68096" y="2286000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8E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1261872" y="2286000"/>
            <a:ext cx="41148" cy="457200"/>
          </a:xfrm>
          <a:prstGeom prst="rect">
            <a:avLst/>
          </a:prstGeom>
          <a:solidFill>
            <a:srgbClr val="FF8E3C"/>
          </a:solidFill>
          <a:ln w="12700">
            <a:solidFill>
              <a:srgbClr val="FF8E3C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463040" y="2221992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50" b="1" dirty="0">
                <a:solidFill>
                  <a:srgbClr val="F3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Trinidad e Tobago</a:t>
            </a:r>
            <a:endParaRPr lang="en-US" sz="2250" dirty="0"/>
          </a:p>
        </p:txBody>
      </p:sp>
      <p:sp>
        <p:nvSpPr>
          <p:cNvPr id="19" name="Text 16"/>
          <p:cNvSpPr/>
          <p:nvPr/>
        </p:nvSpPr>
        <p:spPr>
          <a:xfrm>
            <a:off x="1463040" y="2569464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9AA4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Caribe</a:t>
            </a:r>
            <a:endParaRPr lang="en-US" sz="1450" dirty="0"/>
          </a:p>
        </p:txBody>
      </p:sp>
      <p:sp>
        <p:nvSpPr>
          <p:cNvPr id="20" name="Text 17"/>
          <p:cNvSpPr/>
          <p:nvPr/>
        </p:nvSpPr>
        <p:spPr>
          <a:xfrm>
            <a:off x="6931152" y="2203704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500" b="1" dirty="0">
                <a:solidFill>
                  <a:srgbClr val="F3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71,2</a:t>
            </a:r>
            <a:endParaRPr lang="en-US" sz="2500" dirty="0"/>
          </a:p>
        </p:txBody>
      </p:sp>
      <p:sp>
        <p:nvSpPr>
          <p:cNvPr id="21" name="Text 18"/>
          <p:cNvSpPr/>
          <p:nvPr/>
        </p:nvSpPr>
        <p:spPr>
          <a:xfrm>
            <a:off x="6885432" y="2551176"/>
            <a:ext cx="1143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40" b="1" dirty="0">
                <a:solidFill>
                  <a:srgbClr val="9AA4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ALTO</a:t>
            </a:r>
            <a:endParaRPr lang="en-US" sz="1040" dirty="0"/>
          </a:p>
        </p:txBody>
      </p:sp>
      <p:sp>
        <p:nvSpPr>
          <p:cNvPr id="22" name="Shape 19"/>
          <p:cNvSpPr/>
          <p:nvPr/>
        </p:nvSpPr>
        <p:spPr>
          <a:xfrm>
            <a:off x="1463040" y="2962656"/>
            <a:ext cx="6729984" cy="13716"/>
          </a:xfrm>
          <a:prstGeom prst="rect">
            <a:avLst/>
          </a:prstGeom>
          <a:solidFill>
            <a:srgbClr val="2A323C"/>
          </a:solidFill>
          <a:ln w="12700">
            <a:solidFill>
              <a:srgbClr val="2A323C">
                <a:alpha val="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68096" y="3154680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8E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</a:t>
            </a:r>
            <a:endParaRPr lang="en-US" sz="1800" dirty="0"/>
          </a:p>
        </p:txBody>
      </p:sp>
      <p:sp>
        <p:nvSpPr>
          <p:cNvPr id="24" name="Shape 21"/>
          <p:cNvSpPr/>
          <p:nvPr/>
        </p:nvSpPr>
        <p:spPr>
          <a:xfrm>
            <a:off x="1261872" y="3154680"/>
            <a:ext cx="41148" cy="457200"/>
          </a:xfrm>
          <a:prstGeom prst="rect">
            <a:avLst/>
          </a:prstGeom>
          <a:solidFill>
            <a:srgbClr val="FF8E3C"/>
          </a:solidFill>
          <a:ln w="12700">
            <a:solidFill>
              <a:srgbClr val="FF8E3C">
                <a:alpha val="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463040" y="3090672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50" b="1" dirty="0">
                <a:solidFill>
                  <a:srgbClr val="F3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Síria</a:t>
            </a:r>
            <a:endParaRPr lang="en-US" sz="2250" dirty="0"/>
          </a:p>
        </p:txBody>
      </p:sp>
      <p:sp>
        <p:nvSpPr>
          <p:cNvPr id="26" name="Text 23"/>
          <p:cNvSpPr/>
          <p:nvPr/>
        </p:nvSpPr>
        <p:spPr>
          <a:xfrm>
            <a:off x="1463040" y="3438144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9AA4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Oriente Médio</a:t>
            </a:r>
            <a:endParaRPr lang="en-US" sz="1450" dirty="0"/>
          </a:p>
        </p:txBody>
      </p:sp>
      <p:sp>
        <p:nvSpPr>
          <p:cNvPr id="27" name="Text 24"/>
          <p:cNvSpPr/>
          <p:nvPr/>
        </p:nvSpPr>
        <p:spPr>
          <a:xfrm>
            <a:off x="6931152" y="3072384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500" b="1" dirty="0">
                <a:solidFill>
                  <a:srgbClr val="F3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67,5</a:t>
            </a:r>
            <a:endParaRPr lang="en-US" sz="2500" dirty="0"/>
          </a:p>
        </p:txBody>
      </p:sp>
      <p:sp>
        <p:nvSpPr>
          <p:cNvPr id="28" name="Text 25"/>
          <p:cNvSpPr/>
          <p:nvPr/>
        </p:nvSpPr>
        <p:spPr>
          <a:xfrm>
            <a:off x="6885432" y="3419856"/>
            <a:ext cx="1143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40" b="1" dirty="0">
                <a:solidFill>
                  <a:srgbClr val="9AA4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ALTO</a:t>
            </a:r>
            <a:endParaRPr lang="en-US" sz="1040" dirty="0"/>
          </a:p>
        </p:txBody>
      </p:sp>
      <p:sp>
        <p:nvSpPr>
          <p:cNvPr id="29" name="Shape 26"/>
          <p:cNvSpPr/>
          <p:nvPr/>
        </p:nvSpPr>
        <p:spPr>
          <a:xfrm>
            <a:off x="1463040" y="3831336"/>
            <a:ext cx="6729984" cy="13716"/>
          </a:xfrm>
          <a:prstGeom prst="rect">
            <a:avLst/>
          </a:prstGeom>
          <a:solidFill>
            <a:srgbClr val="2A323C"/>
          </a:solidFill>
          <a:ln w="12700">
            <a:solidFill>
              <a:srgbClr val="2A323C">
                <a:alpha val="0"/>
              </a:srgbClr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68096" y="4023360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8E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</a:t>
            </a:r>
            <a:endParaRPr lang="en-US" sz="1800" dirty="0"/>
          </a:p>
        </p:txBody>
      </p:sp>
      <p:sp>
        <p:nvSpPr>
          <p:cNvPr id="31" name="Shape 28"/>
          <p:cNvSpPr/>
          <p:nvPr/>
        </p:nvSpPr>
        <p:spPr>
          <a:xfrm>
            <a:off x="1261872" y="4023360"/>
            <a:ext cx="41148" cy="457200"/>
          </a:xfrm>
          <a:prstGeom prst="rect">
            <a:avLst/>
          </a:prstGeom>
          <a:solidFill>
            <a:srgbClr val="FF8E3C"/>
          </a:solidFill>
          <a:ln w="12700">
            <a:solidFill>
              <a:srgbClr val="FF8E3C">
                <a:alpha val="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1463040" y="3959352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50" b="1" dirty="0">
                <a:solidFill>
                  <a:srgbClr val="F3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Jamaica</a:t>
            </a:r>
            <a:endParaRPr lang="en-US" sz="2250" dirty="0"/>
          </a:p>
        </p:txBody>
      </p:sp>
      <p:sp>
        <p:nvSpPr>
          <p:cNvPr id="33" name="Text 30"/>
          <p:cNvSpPr/>
          <p:nvPr/>
        </p:nvSpPr>
        <p:spPr>
          <a:xfrm>
            <a:off x="1463040" y="4306824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9AA4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Caribe</a:t>
            </a:r>
            <a:endParaRPr lang="en-US" sz="1450" dirty="0"/>
          </a:p>
        </p:txBody>
      </p:sp>
      <p:sp>
        <p:nvSpPr>
          <p:cNvPr id="34" name="Text 31"/>
          <p:cNvSpPr/>
          <p:nvPr/>
        </p:nvSpPr>
        <p:spPr>
          <a:xfrm>
            <a:off x="6931152" y="3941064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500" b="1" dirty="0">
                <a:solidFill>
                  <a:srgbClr val="F3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67,4</a:t>
            </a:r>
            <a:endParaRPr lang="en-US" sz="2500" dirty="0"/>
          </a:p>
        </p:txBody>
      </p:sp>
      <p:sp>
        <p:nvSpPr>
          <p:cNvPr id="35" name="Text 32"/>
          <p:cNvSpPr/>
          <p:nvPr/>
        </p:nvSpPr>
        <p:spPr>
          <a:xfrm>
            <a:off x="6885432" y="4288536"/>
            <a:ext cx="1143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40" b="1" dirty="0">
                <a:solidFill>
                  <a:srgbClr val="9AA4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ALTO</a:t>
            </a:r>
            <a:endParaRPr lang="en-US" sz="1040" dirty="0"/>
          </a:p>
        </p:txBody>
      </p:sp>
      <p:sp>
        <p:nvSpPr>
          <p:cNvPr id="36" name="Shape 33"/>
          <p:cNvSpPr/>
          <p:nvPr/>
        </p:nvSpPr>
        <p:spPr>
          <a:xfrm>
            <a:off x="1463040" y="4700016"/>
            <a:ext cx="6729984" cy="13716"/>
          </a:xfrm>
          <a:prstGeom prst="rect">
            <a:avLst/>
          </a:prstGeom>
          <a:solidFill>
            <a:srgbClr val="2A323C"/>
          </a:solidFill>
          <a:ln w="12700">
            <a:solidFill>
              <a:srgbClr val="2A323C">
                <a:alpha val="0"/>
              </a:srgbClr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768096" y="4892040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8E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1800" dirty="0"/>
          </a:p>
        </p:txBody>
      </p:sp>
      <p:sp>
        <p:nvSpPr>
          <p:cNvPr id="38" name="Shape 35"/>
          <p:cNvSpPr/>
          <p:nvPr/>
        </p:nvSpPr>
        <p:spPr>
          <a:xfrm>
            <a:off x="1261872" y="4892040"/>
            <a:ext cx="41148" cy="457200"/>
          </a:xfrm>
          <a:prstGeom prst="rect">
            <a:avLst/>
          </a:prstGeom>
          <a:solidFill>
            <a:srgbClr val="FF8E3C"/>
          </a:solidFill>
          <a:ln w="12700">
            <a:solidFill>
              <a:srgbClr val="FF8E3C">
                <a:alpha val="0"/>
              </a:srgbClr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1463040" y="4828032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50" b="1" dirty="0">
                <a:solidFill>
                  <a:srgbClr val="F3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Guiana</a:t>
            </a:r>
            <a:endParaRPr lang="en-US" sz="2250" dirty="0"/>
          </a:p>
        </p:txBody>
      </p:sp>
      <p:sp>
        <p:nvSpPr>
          <p:cNvPr id="40" name="Text 37"/>
          <p:cNvSpPr/>
          <p:nvPr/>
        </p:nvSpPr>
        <p:spPr>
          <a:xfrm>
            <a:off x="1463040" y="5175504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9AA4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Am. do Sul</a:t>
            </a:r>
            <a:endParaRPr lang="en-US" sz="1450" dirty="0"/>
          </a:p>
        </p:txBody>
      </p:sp>
      <p:sp>
        <p:nvSpPr>
          <p:cNvPr id="41" name="Text 38"/>
          <p:cNvSpPr/>
          <p:nvPr/>
        </p:nvSpPr>
        <p:spPr>
          <a:xfrm>
            <a:off x="6931152" y="4809744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500" b="1" dirty="0">
                <a:solidFill>
                  <a:srgbClr val="F3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66,9</a:t>
            </a:r>
            <a:endParaRPr lang="en-US" sz="2500" dirty="0"/>
          </a:p>
        </p:txBody>
      </p:sp>
      <p:sp>
        <p:nvSpPr>
          <p:cNvPr id="42" name="Text 39"/>
          <p:cNvSpPr/>
          <p:nvPr/>
        </p:nvSpPr>
        <p:spPr>
          <a:xfrm>
            <a:off x="6885432" y="5157216"/>
            <a:ext cx="1143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40" b="1" dirty="0">
                <a:solidFill>
                  <a:srgbClr val="9AA4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ALTO</a:t>
            </a:r>
            <a:endParaRPr lang="en-US" sz="1040" dirty="0"/>
          </a:p>
        </p:txBody>
      </p:sp>
      <p:sp>
        <p:nvSpPr>
          <p:cNvPr id="43" name="Shape 40"/>
          <p:cNvSpPr/>
          <p:nvPr/>
        </p:nvSpPr>
        <p:spPr>
          <a:xfrm>
            <a:off x="1463040" y="5568696"/>
            <a:ext cx="6729984" cy="13716"/>
          </a:xfrm>
          <a:prstGeom prst="rect">
            <a:avLst/>
          </a:prstGeom>
          <a:solidFill>
            <a:srgbClr val="2A323C"/>
          </a:solidFill>
          <a:ln w="12700">
            <a:solidFill>
              <a:srgbClr val="2A323C">
                <a:alpha val="0"/>
              </a:srgbClr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768096" y="5705856"/>
            <a:ext cx="8193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9AA4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Obs.: Peru também aparece com 66,9, empatado com a Guiana na borda do top 10.</a:t>
            </a:r>
            <a:endParaRPr lang="en-US" sz="1080" dirty="0"/>
          </a:p>
        </p:txBody>
      </p:sp>
      <p:sp>
        <p:nvSpPr>
          <p:cNvPr id="45" name="Text 42"/>
          <p:cNvSpPr/>
          <p:nvPr/>
        </p:nvSpPr>
        <p:spPr>
          <a:xfrm>
            <a:off x="658368" y="6492240"/>
            <a:ext cx="8229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9AA4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Fonte: Numbeo, Crime Index by Country 2026 (consulta: abr/2026).</a:t>
            </a:r>
            <a:endParaRPr lang="en-US" sz="9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16459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AA4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NUMBEO 2026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58368" y="347472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3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Leituras rápidas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58368" y="822960"/>
            <a:ext cx="841248" cy="41148"/>
          </a:xfrm>
          <a:prstGeom prst="rect">
            <a:avLst/>
          </a:prstGeom>
          <a:solidFill>
            <a:srgbClr val="E94F5A"/>
          </a:solidFill>
          <a:ln w="12700">
            <a:solidFill>
              <a:srgbClr val="E94F5A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37392" y="237744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9AA4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</a:t>
            </a:r>
            <a:endParaRPr lang="en-US" sz="950" dirty="0"/>
          </a:p>
        </p:txBody>
      </p:sp>
      <p:pic>
        <p:nvPicPr>
          <p:cNvPr id="6" name="Image 0" descr="/mnt/data/crime_deck_assets/world_map_recolor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32120" y="1417320"/>
            <a:ext cx="5989320" cy="36118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49808" y="1591056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94F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6/10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768096" y="2103120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3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posições nas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3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Américas e Caribe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3291840" y="1591056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8E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4400" dirty="0"/>
          </a:p>
        </p:txBody>
      </p:sp>
      <p:sp>
        <p:nvSpPr>
          <p:cNvPr id="10" name="Text 7"/>
          <p:cNvSpPr/>
          <p:nvPr/>
        </p:nvSpPr>
        <p:spPr>
          <a:xfrm>
            <a:off x="3328416" y="2103120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3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países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3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acima de 80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749808" y="382219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3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73,6</a:t>
            </a:r>
            <a:endParaRPr lang="en-US" sz="4000" dirty="0"/>
          </a:p>
        </p:txBody>
      </p:sp>
      <p:sp>
        <p:nvSpPr>
          <p:cNvPr id="12" name="Text 9"/>
          <p:cNvSpPr/>
          <p:nvPr/>
        </p:nvSpPr>
        <p:spPr>
          <a:xfrm>
            <a:off x="768096" y="429768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3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média do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3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 10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3291840" y="3822192"/>
            <a:ext cx="20574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9AA4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Como o índice é baseado em percepção, ele funciona melhor como leitura comparativa do que como estatística criminal oficial.</a:t>
            </a:r>
            <a:endParaRPr lang="en-US" sz="1550" dirty="0"/>
          </a:p>
        </p:txBody>
      </p:sp>
      <p:sp>
        <p:nvSpPr>
          <p:cNvPr id="14" name="Text 11"/>
          <p:cNvSpPr/>
          <p:nvPr/>
        </p:nvSpPr>
        <p:spPr>
          <a:xfrm>
            <a:off x="658368" y="6492240"/>
            <a:ext cx="10881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9AA4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Fontes: Numbeo 2026 e Understanding Crime Indexes (consulta: abr/2026).</a:t>
            </a:r>
            <a:endParaRPr lang="en-US" sz="9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16459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AA4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NUMBEO 2026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58368" y="347472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3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Fontes e nota metodológica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58368" y="822960"/>
            <a:ext cx="841248" cy="41148"/>
          </a:xfrm>
          <a:prstGeom prst="rect">
            <a:avLst/>
          </a:prstGeom>
          <a:solidFill>
            <a:srgbClr val="E94F5A"/>
          </a:solidFill>
          <a:ln w="12700">
            <a:solidFill>
              <a:srgbClr val="E94F5A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37392" y="237744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9AA4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950" dirty="0"/>
          </a:p>
        </p:txBody>
      </p:sp>
      <p:pic>
        <p:nvPicPr>
          <p:cNvPr id="6" name="Image 0" descr="/mnt/data/crime_deck_assets/world_map_recolor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6760" y="1463040"/>
            <a:ext cx="3246120" cy="17373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49808" y="1426464"/>
            <a:ext cx="6812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3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Numbeo — Crime Index by Country 2026.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3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Ranking por país consultado em abril de 2026.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49808" y="2450592"/>
            <a:ext cx="7040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3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Numbeo — Understanding Crime Indexes.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3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Explica a escala 0–100, as faixas e a natureza perceptiva do índice.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49808" y="3675888"/>
            <a:ext cx="71323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3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Observação do deck.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3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O corte visual usa as 10 primeiras posições; Peru empata com a Guiana em 66,9.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749808" y="4791456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3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Imagens de apoio.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3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Fotografias de uso livre em composição editorial.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8156448" y="4535424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AA4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Termômetro comparativo, não estatística criminal oficial.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Índice de criminalidade no mundo - Top 10 países</dc:title>
  <dc:subject>Índice de criminalidade no mundo - Top 10 países</dc:subject>
  <dc:creator>OpenAI</dc:creator>
  <cp:lastModifiedBy>OpenAI</cp:lastModifiedBy>
  <cp:revision>1</cp:revision>
  <dcterms:created xsi:type="dcterms:W3CDTF">2026-04-22T05:12:45Z</dcterms:created>
  <dcterms:modified xsi:type="dcterms:W3CDTF">2026-04-22T05:12:45Z</dcterms:modified>
</cp:coreProperties>
</file>